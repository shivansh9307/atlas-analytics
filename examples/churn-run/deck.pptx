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Strength of association (ranked)</a:t>
            </a:r>
          </a:p>
        </c:rich>
      </c:tx>
      <c:layout/>
      <c:overlay val="0"/>
    </c:title>
    <c:autoTitleDeleted val="0"/>
    <c:plotArea>
      <c:barChart>
        <c:barDir val="bar"/>
        <c:grouping val="clustered"/>
        <c:ser>
          <c:idx val="0"/>
          <c:order val="0"/>
          <c:tx>
            <c:strRef>
              <c:f>Sheet1!$B$1</c:f>
              <c:strCache>
                <c:ptCount val="1"/>
                <c:pt idx="0">
                  <c:v>effect</c:v>
                </c:pt>
              </c:strCache>
            </c:strRef>
          </c:tx>
          <c:cat>
            <c:strRef>
              <c:f>Sheet1!$A$2:$A$5</c:f>
              <c:strCache>
                <c:ptCount val="4"/>
                <c:pt idx="0">
                  <c:v>Payment Delay</c:v>
                </c:pt>
                <c:pt idx="1">
                  <c:v>Support Calls</c:v>
                </c:pt>
                <c:pt idx="2">
                  <c:v>Tenure</c:v>
                </c:pt>
                <c:pt idx="3">
                  <c:v>Usage Frequency</c:v>
                </c:pt>
              </c:strCache>
            </c:strRef>
          </c:cat>
          <c:val>
            <c:numRef>
              <c:f>Sheet1!$B$2:$B$5</c:f>
              <c:numCache>
                <c:formatCode>General</c:formatCode>
                <c:ptCount val="4"/>
                <c:pt idx="0">
                  <c:v>0.6119</c:v>
                </c:pt>
                <c:pt idx="1">
                  <c:v>0.3545</c:v>
                </c:pt>
                <c:pt idx="2">
                  <c:v>0.2565</c:v>
                </c:pt>
                <c:pt idx="3">
                  <c:v>0.239</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Outcome rate by Gender</a:t>
            </a:r>
          </a:p>
        </c:rich>
      </c:tx>
      <c:layout/>
      <c:overlay val="0"/>
    </c:title>
    <c:autoTitleDeleted val="0"/>
    <c:plotArea>
      <c:barChart>
        <c:barDir val="col"/>
        <c:grouping val="clustered"/>
        <c:ser>
          <c:idx val="0"/>
          <c:order val="0"/>
          <c:tx>
            <c:strRef>
              <c:f>Sheet1!$B$1</c:f>
              <c:strCache>
                <c:ptCount val="1"/>
                <c:pt idx="0">
                  <c:v>rate %</c:v>
                </c:pt>
              </c:strCache>
            </c:strRef>
          </c:tx>
          <c:cat>
            <c:strRef>
              <c:f>Sheet1!$A$2:$A$3</c:f>
              <c:strCache>
                <c:ptCount val="2"/>
                <c:pt idx="0">
                  <c:v>Male</c:v>
                </c:pt>
                <c:pt idx="1">
                  <c:v>Female</c:v>
                </c:pt>
              </c:strCache>
            </c:strRef>
          </c:cat>
          <c:val>
            <c:numRef>
              <c:f>Sheet1!$B$2:$B$3</c:f>
              <c:numCache>
                <c:formatCode>General</c:formatCode>
                <c:ptCount val="2"/>
                <c:pt idx="0">
                  <c:v>38.58</c:v>
                </c:pt>
                <c:pt idx="1">
                  <c:v>55.05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Outcome rate by Payment Delay</a:t>
            </a:r>
          </a:p>
        </c:rich>
      </c:tx>
      <c:layout/>
      <c:overlay val="0"/>
    </c:title>
    <c:autoTitleDeleted val="0"/>
    <c:plotArea>
      <c:barChart>
        <c:barDir val="col"/>
        <c:grouping val="clustered"/>
        <c:ser>
          <c:idx val="0"/>
          <c:order val="0"/>
          <c:tx>
            <c:strRef>
              <c:f>Sheet1!$B$1</c:f>
              <c:strCache>
                <c:ptCount val="1"/>
                <c:pt idx="0">
                  <c:v>rate %</c:v>
                </c:pt>
              </c:strCache>
            </c:strRef>
          </c:tx>
          <c:cat>
            <c:strRef>
              <c:f>Sheet1!$A$2:$A$32</c:f>
              <c:strCache>
                <c:ptCount val="31"/>
                <c:pt idx="0">
                  <c:v>0-0</c:v>
                </c:pt>
                <c:pt idx="1">
                  <c:v>1-1</c:v>
                </c:pt>
                <c:pt idx="2">
                  <c:v>2-2</c:v>
                </c:pt>
                <c:pt idx="3">
                  <c:v>3-3</c:v>
                </c:pt>
                <c:pt idx="4">
                  <c:v>4-4</c:v>
                </c:pt>
                <c:pt idx="5">
                  <c:v>5-5</c:v>
                </c:pt>
                <c:pt idx="6">
                  <c:v>6-6</c:v>
                </c:pt>
                <c:pt idx="7">
                  <c:v>7-7</c:v>
                </c:pt>
                <c:pt idx="8">
                  <c:v>8-8</c:v>
                </c:pt>
                <c:pt idx="9">
                  <c:v>9-9</c:v>
                </c:pt>
                <c:pt idx="10">
                  <c:v>10-10</c:v>
                </c:pt>
                <c:pt idx="11">
                  <c:v>11-11</c:v>
                </c:pt>
                <c:pt idx="12">
                  <c:v>12-12</c:v>
                </c:pt>
                <c:pt idx="13">
                  <c:v>13-13</c:v>
                </c:pt>
                <c:pt idx="14">
                  <c:v>14-14</c:v>
                </c:pt>
                <c:pt idx="15">
                  <c:v>15-15</c:v>
                </c:pt>
                <c:pt idx="16">
                  <c:v>16-16</c:v>
                </c:pt>
                <c:pt idx="17">
                  <c:v>17-17</c:v>
                </c:pt>
                <c:pt idx="18">
                  <c:v>18-18</c:v>
                </c:pt>
                <c:pt idx="19">
                  <c:v>19-19</c:v>
                </c:pt>
                <c:pt idx="20">
                  <c:v>20-20</c:v>
                </c:pt>
                <c:pt idx="21">
                  <c:v>21-21</c:v>
                </c:pt>
                <c:pt idx="22">
                  <c:v>22-22</c:v>
                </c:pt>
                <c:pt idx="23">
                  <c:v>23-23</c:v>
                </c:pt>
                <c:pt idx="24">
                  <c:v>24-24</c:v>
                </c:pt>
                <c:pt idx="25">
                  <c:v>25-25</c:v>
                </c:pt>
                <c:pt idx="26">
                  <c:v>26-26</c:v>
                </c:pt>
                <c:pt idx="27">
                  <c:v>27-27</c:v>
                </c:pt>
                <c:pt idx="28">
                  <c:v>28-28</c:v>
                </c:pt>
                <c:pt idx="29">
                  <c:v>29-29</c:v>
                </c:pt>
                <c:pt idx="30">
                  <c:v>30-30</c:v>
                </c:pt>
              </c:strCache>
            </c:strRef>
          </c:cat>
          <c:val>
            <c:numRef>
              <c:f>Sheet1!$B$2:$B$32</c:f>
              <c:numCache>
                <c:formatCode>General</c:formatCode>
                <c:ptCount val="31"/>
                <c:pt idx="0">
                  <c:v>9.6</c:v>
                </c:pt>
                <c:pt idx="1">
                  <c:v>9.55</c:v>
                </c:pt>
                <c:pt idx="2">
                  <c:v>11.63</c:v>
                </c:pt>
                <c:pt idx="3">
                  <c:v>10.76</c:v>
                </c:pt>
                <c:pt idx="4">
                  <c:v>9.82</c:v>
                </c:pt>
                <c:pt idx="5">
                  <c:v>9.82</c:v>
                </c:pt>
                <c:pt idx="6">
                  <c:v>8.83</c:v>
                </c:pt>
                <c:pt idx="7">
                  <c:v>10.79</c:v>
                </c:pt>
                <c:pt idx="8">
                  <c:v>9.88</c:v>
                </c:pt>
                <c:pt idx="9">
                  <c:v>10.43</c:v>
                </c:pt>
                <c:pt idx="10">
                  <c:v>9.72</c:v>
                </c:pt>
                <c:pt idx="11">
                  <c:v>10.51</c:v>
                </c:pt>
                <c:pt idx="12">
                  <c:v>9.7</c:v>
                </c:pt>
                <c:pt idx="13">
                  <c:v>9.95</c:v>
                </c:pt>
                <c:pt idx="14">
                  <c:v>10.57</c:v>
                </c:pt>
                <c:pt idx="15">
                  <c:v>10.15</c:v>
                </c:pt>
                <c:pt idx="16">
                  <c:v>57.93</c:v>
                </c:pt>
                <c:pt idx="17">
                  <c:v>59.61</c:v>
                </c:pt>
                <c:pt idx="18">
                  <c:v>57.97</c:v>
                </c:pt>
                <c:pt idx="19">
                  <c:v>58.29</c:v>
                </c:pt>
                <c:pt idx="20">
                  <c:v>58.99</c:v>
                </c:pt>
                <c:pt idx="21">
                  <c:v>77.22</c:v>
                </c:pt>
                <c:pt idx="22">
                  <c:v>76.18</c:v>
                </c:pt>
                <c:pt idx="23">
                  <c:v>77.84</c:v>
                </c:pt>
                <c:pt idx="24">
                  <c:v>75.73</c:v>
                </c:pt>
                <c:pt idx="25">
                  <c:v>76.77</c:v>
                </c:pt>
                <c:pt idx="26">
                  <c:v>76.34</c:v>
                </c:pt>
                <c:pt idx="27">
                  <c:v>76.22</c:v>
                </c:pt>
                <c:pt idx="28">
                  <c:v>75.64</c:v>
                </c:pt>
                <c:pt idx="29">
                  <c:v>76.97</c:v>
                </c:pt>
                <c:pt idx="30">
                  <c:v>77.07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Churn rate is 47.4% over 64,374 rows, and that number was independently re-derived by the red team using a different aggregate. The ranked bars are effect sizes, not p-values — on a table this size almost everything is statistically significant, so size is what separates a real driver from noise. These are associations, not proven causes.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by Gender moves the rate by 8.8 points against a 47.4% base. Each bar carries a Wilson confidence interval in the appendix, and the size-weighted average of these bars reconstructs the overall rate exactly — that identity is what the red team checked.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an average or a correlation would hide. Payment Delay is flat and then jumps at [16.0, 21.0]. That changes the intervention: there is a specific point at which risk changes, so the action is a rule at that boundary rather than a gradual push on the whole population.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moves. Prioritise the worst segment, because that is where the same effort reaches the most affected population. Treat the threshold columns as bands, because that is how they actually behave. And before spending against any of this as though it were causal, run an experiment — everything on these slides is measured association.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is associated with 'Churn': Payment Delay leads a ranked list</a:t>
            </a:r>
          </a:p>
        </p:txBody>
      </p:sp>
      <p:sp>
        <p:nvSpPr>
          <p:cNvPr id="3" name="Subtitle 2"/>
          <p:cNvSpPr>
            <a:spLocks noGrp="1"/>
          </p:cNvSpPr>
          <p:nvPr>
            <p:ph type="subTitle" idx="1"/>
          </p:nvPr>
        </p:nvSpPr>
        <p:spPr/>
        <p:txBody>
          <a:bodyPr/>
          <a:lstStyle/>
          <a:p>
            <a:r>
              <a:t>Cross-sectional driver analysis over 64,374 rows</a:t>
            </a:r>
          </a:p>
          <a:p>
            <a:r>
              <a:t>Prepared for: VP Customer Success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'Churn' runs at 47.4%; Payment Delay is the strongest signal</a:t>
            </a:r>
          </a:p>
        </p:txBody>
      </p:sp>
      <p:sp>
        <p:nvSpPr>
          <p:cNvPr id="3" name="TextBox 2"/>
          <p:cNvSpPr txBox="1"/>
          <p:nvPr/>
        </p:nvSpPr>
        <p:spPr>
          <a:xfrm>
            <a:off x="548640" y="1280160"/>
            <a:ext cx="5120640" cy="4846320"/>
          </a:xfrm>
          <a:prstGeom prst="rect">
            <a:avLst/>
          </a:prstGeom>
          <a:noFill/>
        </p:spPr>
        <p:txBody>
          <a:bodyPr wrap="square">
            <a:spAutoFit/>
          </a:bodyPr>
          <a:lstStyle/>
          <a:p>
            <a:pPr>
              <a:defRPr sz="1600"/>
            </a:pPr>
            <a:r>
              <a:t>Overall rate: 47.4% across 64,374 rows</a:t>
            </a:r>
          </a:p>
          <a:p>
            <a:pPr>
              <a:defRPr sz="1600"/>
            </a:pPr>
            <a:r>
              <a:t>Payment Delay: cliff_jump +0.612</a:t>
            </a:r>
          </a:p>
          <a:p>
            <a:pPr>
              <a:defRPr sz="1600"/>
            </a:pPr>
            <a:r>
              <a:t>Support Calls: cliff_jump +0.354</a:t>
            </a:r>
          </a:p>
          <a:p>
            <a:pPr>
              <a:defRPr sz="1600"/>
            </a:pPr>
            <a:r>
              <a:t>Tenure: cliff_jump +0.256</a:t>
            </a:r>
          </a:p>
        </p:txBody>
      </p:sp>
      <p:graphicFrame>
        <p:nvGraphicFramePr>
          <p:cNvPr id="4" name="Chart 3"/>
          <p:cNvGraphicFramePr>
            <a:graphicFrameLocks noGrp="1"/>
          </p:cNvGraphicFramePr>
          <p:nvPr/>
        </p:nvGraphicFramePr>
        <p:xfrm>
          <a:off x="6035040" y="1280160"/>
          <a:ext cx="548640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'Gender' separates the outcome by 8.8 percentage points</a:t>
            </a:r>
          </a:p>
        </p:txBody>
      </p:sp>
      <p:sp>
        <p:nvSpPr>
          <p:cNvPr id="3" name="TextBox 2"/>
          <p:cNvSpPr txBox="1"/>
          <p:nvPr/>
        </p:nvSpPr>
        <p:spPr>
          <a:xfrm>
            <a:off x="548640" y="1280160"/>
            <a:ext cx="5120640" cy="4846320"/>
          </a:xfrm>
          <a:prstGeom prst="rect">
            <a:avLst/>
          </a:prstGeom>
          <a:noFill/>
        </p:spPr>
        <p:txBody>
          <a:bodyPr wrap="square">
            <a:spAutoFit/>
          </a:bodyPr>
          <a:lstStyle/>
          <a:p>
            <a:pPr>
              <a:defRPr sz="1600"/>
            </a:pPr>
            <a:r>
              <a:t>Male: 38.6% (n=30,021)</a:t>
            </a:r>
          </a:p>
          <a:p>
            <a:pPr>
              <a:defRPr sz="1600"/>
            </a:pPr>
            <a:r>
              <a:t>Female: 55.0% (n=34,353)</a:t>
            </a:r>
          </a:p>
        </p:txBody>
      </p:sp>
      <p:graphicFrame>
        <p:nvGraphicFramePr>
          <p:cNvPr id="4" name="Chart 3"/>
          <p:cNvGraphicFramePr>
            <a:graphicFrameLocks noGrp="1"/>
          </p:cNvGraphicFramePr>
          <p:nvPr/>
        </p:nvGraphicFramePr>
        <p:xfrm>
          <a:off x="6035040" y="1280160"/>
          <a:ext cx="548640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'Payment Delay' is a cliff, not a slope — it steps at [16.0, 21.0]</a:t>
            </a:r>
          </a:p>
        </p:txBody>
      </p:sp>
      <p:sp>
        <p:nvSpPr>
          <p:cNvPr id="3" name="TextBox 2"/>
          <p:cNvSpPr txBox="1"/>
          <p:nvPr/>
        </p:nvSpPr>
        <p:spPr>
          <a:xfrm>
            <a:off x="548640" y="1280160"/>
            <a:ext cx="5120640" cy="4846320"/>
          </a:xfrm>
          <a:prstGeom prst="rect">
            <a:avLst/>
          </a:prstGeom>
          <a:noFill/>
        </p:spPr>
        <p:txBody>
          <a:bodyPr wrap="square">
            <a:spAutoFit/>
          </a:bodyPr>
          <a:lstStyle/>
          <a:p>
            <a:pPr>
              <a:defRPr sz="1600"/>
            </a:pPr>
            <a:r>
              <a:t>Cut point(s): [16.0, 21.0]</a:t>
            </a:r>
          </a:p>
          <a:p>
            <a:pPr>
              <a:defRPr sz="1600"/>
            </a:pPr>
            <a:r>
              <a:t>Step size: 61.2%</a:t>
            </a:r>
          </a:p>
          <a:p>
            <a:pPr>
              <a:defRPr sz="1600"/>
            </a:pPr>
            <a:r>
              <a:t>A step explains it far better than a line (R² 1.00 vs 0.83)</a:t>
            </a:r>
          </a:p>
        </p:txBody>
      </p:sp>
      <p:graphicFrame>
        <p:nvGraphicFramePr>
          <p:cNvPr id="4" name="Chart 3"/>
          <p:cNvGraphicFramePr>
            <a:graphicFrameLocks noGrp="1"/>
          </p:cNvGraphicFramePr>
          <p:nvPr/>
        </p:nvGraphicFramePr>
        <p:xfrm>
          <a:off x="6035040" y="1280160"/>
          <a:ext cx="548640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on the bands, not the averages — and test before believing cause</a:t>
            </a:r>
          </a:p>
        </p:txBody>
      </p:sp>
      <p:sp>
        <p:nvSpPr>
          <p:cNvPr id="3" name="TextBox 2"/>
          <p:cNvSpPr txBox="1"/>
          <p:nvPr/>
        </p:nvSpPr>
        <p:spPr>
          <a:xfrm>
            <a:off x="548640" y="1280160"/>
            <a:ext cx="5120640" cy="4846320"/>
          </a:xfrm>
          <a:prstGeom prst="rect">
            <a:avLst/>
          </a:prstGeom>
          <a:noFill/>
        </p:spPr>
        <p:txBody>
          <a:bodyPr wrap="square">
            <a:spAutoFit/>
          </a:bodyPr>
          <a:lstStyle/>
          <a:p>
            <a:pPr>
              <a:defRPr sz="1600"/>
            </a:pPr>
            <a:r>
              <a:t>Prioritise the highest-rate segment of 'Gender'</a:t>
            </a:r>
          </a:p>
          <a:p>
            <a:pPr>
              <a:defRPr sz="1600"/>
            </a:pPr>
            <a:r>
              <a:t>Treat 'Payment Delay' as bands at [16.0, 21.0]</a:t>
            </a:r>
          </a:p>
          <a:p>
            <a:pPr>
              <a:defRPr sz="1600"/>
            </a:pPr>
            <a:r>
              <a:t>Treat 'Support Calls' as bands at [4.0, 5.0]</a:t>
            </a:r>
          </a:p>
          <a:p>
            <a:pPr>
              <a:defRPr sz="1600"/>
            </a:pPr>
            <a:r>
              <a:t>Run an experiment before assuming any of these are causal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Methodology</a:t>
            </a:r>
          </a:p>
        </p:txBody>
      </p:sp>
      <p:sp>
        <p:nvSpPr>
          <p:cNvPr id="3" name="TextBox 2"/>
          <p:cNvSpPr txBox="1"/>
          <p:nvPr/>
        </p:nvSpPr>
        <p:spPr>
          <a:xfrm>
            <a:off x="548640" y="1371600"/>
            <a:ext cx="10972800" cy="4846320"/>
          </a:xfrm>
          <a:prstGeom prst="rect">
            <a:avLst/>
          </a:prstGeom>
          <a:noFill/>
        </p:spPr>
        <p:txBody>
          <a:bodyPr wrap="square">
            <a:spAutoFit/>
          </a:bodyPr>
          <a:lstStyle/>
          <a:p>
            <a:pPr>
              <a:defRPr sz="1500"/>
            </a:pPr>
            <a:r>
              <a:t>• Cross-sectional association analysis. Numeric features ranked by point-biserial correlation and Cohen's d; categorical features by outcome-rate gap with Wilson intervals, a two-proportion z-test and Cramer's V. Threshold detection compares a step function against a straight line and reports a cut only when the step removes most of the line's residual error.</a:t>
            </a:r>
          </a:p>
          <a:p>
            <a:pPr>
              <a:defRPr sz="1500"/>
            </a:pPr>
            <a:r>
              <a:t>• EVIDENCE TIER: correlational. A single snapshot cannot establish causation.</a:t>
            </a:r>
          </a:p>
          <a:p>
            <a:pPr>
              <a:defRPr sz="1500"/>
            </a:pPr>
            <a:r>
              <a:t>• Every number carries a provenance ID -&gt; stored query + result hash.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Assumptions</a:t>
            </a:r>
          </a:p>
        </p:txBody>
      </p:sp>
      <p:sp>
        <p:nvSpPr>
          <p:cNvPr id="3" name="TextBox 2"/>
          <p:cNvSpPr txBox="1"/>
          <p:nvPr/>
        </p:nvSpPr>
        <p:spPr>
          <a:xfrm>
            <a:off x="548640" y="1371600"/>
            <a:ext cx="10972800" cy="4846320"/>
          </a:xfrm>
          <a:prstGeom prst="rect">
            <a:avLst/>
          </a:prstGeom>
          <a:noFill/>
        </p:spPr>
        <p:txBody>
          <a:bodyPr wrap="square">
            <a:spAutoFit/>
          </a:bodyPr>
          <a:lstStyle/>
          <a:p>
            <a:pPr>
              <a:defRPr sz="1500"/>
            </a:pPr>
            <a:r>
              <a:t>• Metric inferred from the question as 'customer_churn_rate' (locked definition in metrics.yaml).</a:t>
            </a:r>
          </a:p>
          <a:p>
            <a:pPr>
              <a:defRPr sz="1500"/>
            </a:pPr>
            <a:r>
              <a:t>• Comparison window: Q2 vs Q1, EMEA only.</a:t>
            </a:r>
          </a:p>
          <a:p>
            <a:pPr>
              <a:defRPr sz="1500"/>
            </a:pPr>
            <a:r>
              <a:t>• Grain: product_line. Numbers are full-scan (no sampling on this local source).</a:t>
            </a:r>
          </a:p>
          <a:p>
            <a:pPr>
              <a:defRPr sz="1500"/>
            </a:pPr>
            <a:r>
              <a:t>• Role 'target' inferred as 'Churn' by name hint — not explicitly specified. Pin it with bind={'target': '&lt;column&gt;'} to be certain.</a:t>
            </a:r>
          </a:p>
          <a:p>
            <a:pPr>
              <a:defRPr sz="1500"/>
            </a:pPr>
            <a:r>
              <a:t>• Role 'entity' inferred as 'CustomerID' by name hint — not explicitly specified. Pin it with bind={'entity': '&lt;column&gt;'} to be certain.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Provenance (every number is sourced)</a:t>
            </a:r>
          </a:p>
        </p:txBody>
      </p:sp>
      <p:graphicFrame>
        <p:nvGraphicFramePr>
          <p:cNvPr id="3" name="Table 2"/>
          <p:cNvGraphicFramePr>
            <a:graphicFrameLocks noGrp="1"/>
          </p:cNvGraphicFramePr>
          <p:nvPr/>
        </p:nvGraphicFramePr>
        <p:xfrm>
          <a:off x="457200" y="1280160"/>
          <a:ext cx="11247120" cy="5029200"/>
        </p:xfrm>
        <a:graphic>
          <a:graphicData uri="http://schemas.openxmlformats.org/drawingml/2006/table">
            <a:tbl>
              <a:tblPr firstRow="1" bandRow="1">
                <a:tableStyleId>{5C22544A-7EE6-4342-B048-85BDC9FD1C3A}</a:tableStyleId>
              </a:tblPr>
              <a:tblGrid>
                <a:gridCol w="2811780"/>
                <a:gridCol w="2811780"/>
                <a:gridCol w="2811780"/>
                <a:gridCol w="2811780"/>
              </a:tblGrid>
              <a:tr h="718457">
                <a:tc>
                  <a:txBody>
                    <a:bodyPr/>
                    <a:lstStyle/>
                    <a:p>
                      <a:r>
                        <a:t>Claim</a:t>
                      </a:r>
                    </a:p>
                  </a:txBody>
                  <a:tcPr/>
                </a:tc>
                <a:tc>
                  <a:txBody>
                    <a:bodyPr/>
                    <a:lstStyle/>
                    <a:p>
                      <a:r>
                        <a:t>Value</a:t>
                      </a:r>
                    </a:p>
                  </a:txBody>
                  <a:tcPr/>
                </a:tc>
                <a:tc>
                  <a:txBody>
                    <a:bodyPr/>
                    <a:lstStyle/>
                    <a:p>
                      <a:r>
                        <a:t>Query hash</a:t>
                      </a:r>
                    </a:p>
                  </a:txBody>
                  <a:tcPr/>
                </a:tc>
                <a:tc>
                  <a:txBody>
                    <a:bodyPr/>
                    <a:lstStyle/>
                    <a:p>
                      <a:r>
                        <a:t>Evidence tier</a:t>
                      </a:r>
                    </a:p>
                  </a:txBody>
                  <a:tcPr/>
                </a:tc>
              </a:tr>
              <a:tr h="718457">
                <a:tc>
                  <a:txBody>
                    <a:bodyPr/>
                    <a:lstStyle/>
                    <a:p>
                      <a:r>
                        <a:t>Overall 'Churn' rate</a:t>
                      </a:r>
                    </a:p>
                  </a:txBody>
                  <a:tcPr/>
                </a:tc>
                <a:tc>
                  <a:txBody>
                    <a:bodyPr/>
                    <a:lstStyle/>
                    <a:p>
                      <a:r>
                        <a:t>47.37</a:t>
                      </a:r>
                    </a:p>
                  </a:txBody>
                  <a:tcPr/>
                </a:tc>
                <a:tc>
                  <a:txBody>
                    <a:bodyPr/>
                    <a:lstStyle/>
                    <a:p>
                      <a:r>
                        <a:t>4f7b4a6fa470fe8e</a:t>
                      </a:r>
                    </a:p>
                  </a:txBody>
                  <a:tcPr/>
                </a:tc>
                <a:tc>
                  <a:txBody>
                    <a:bodyPr/>
                    <a:lstStyle/>
                    <a:p>
                      <a:r>
                        <a:t>decomposed</a:t>
                      </a:r>
                    </a:p>
                  </a:txBody>
                  <a:tcPr/>
                </a:tc>
              </a:tr>
              <a:tr h="718457">
                <a:tc>
                  <a:txBody>
                    <a:bodyPr/>
                    <a:lstStyle/>
                    <a:p>
                      <a:r>
                        <a:t>'Payment Delay' has a threshold effect at [16.0, 21.0]: the </a:t>
                      </a:r>
                    </a:p>
                  </a:txBody>
                  <a:tcPr/>
                </a:tc>
                <a:tc>
                  <a:txBody>
                    <a:bodyPr/>
                    <a:lstStyle/>
                    <a:p>
                      <a:r>
                        <a:t>0.6119</a:t>
                      </a:r>
                    </a:p>
                  </a:txBody>
                  <a:tcPr/>
                </a:tc>
                <a:tc>
                  <a:txBody>
                    <a:bodyPr/>
                    <a:lstStyle/>
                    <a:p>
                      <a:r>
                        <a:t>183edb6fc26780f1</a:t>
                      </a:r>
                    </a:p>
                  </a:txBody>
                  <a:tcPr/>
                </a:tc>
                <a:tc>
                  <a:txBody>
                    <a:bodyPr/>
                    <a:lstStyle/>
                    <a:p>
                      <a:r>
                        <a:t>tested</a:t>
                      </a:r>
                    </a:p>
                  </a:txBody>
                  <a:tcPr/>
                </a:tc>
              </a:tr>
              <a:tr h="718457">
                <a:tc>
                  <a:txBody>
                    <a:bodyPr/>
                    <a:lstStyle/>
                    <a:p>
                      <a:r>
                        <a:t>'Support Calls' has a threshold effect at [4.0, 5.0]: the ra</a:t>
                      </a:r>
                    </a:p>
                  </a:txBody>
                  <a:tcPr/>
                </a:tc>
                <a:tc>
                  <a:txBody>
                    <a:bodyPr/>
                    <a:lstStyle/>
                    <a:p>
                      <a:r>
                        <a:t>0.3545</a:t>
                      </a:r>
                    </a:p>
                  </a:txBody>
                  <a:tcPr/>
                </a:tc>
                <a:tc>
                  <a:txBody>
                    <a:bodyPr/>
                    <a:lstStyle/>
                    <a:p>
                      <a:r>
                        <a:t>6624c9ef0781b7a0</a:t>
                      </a:r>
                    </a:p>
                  </a:txBody>
                  <a:tcPr/>
                </a:tc>
                <a:tc>
                  <a:txBody>
                    <a:bodyPr/>
                    <a:lstStyle/>
                    <a:p>
                      <a:r>
                        <a:t>tested</a:t>
                      </a:r>
                    </a:p>
                  </a:txBody>
                  <a:tcPr/>
                </a:tc>
              </a:tr>
              <a:tr h="718457">
                <a:tc>
                  <a:txBody>
                    <a:bodyPr/>
                    <a:lstStyle/>
                    <a:p>
                      <a:r>
                        <a:t>'Tenure' has a threshold effect at [6.0, 24.0]: the rate ste</a:t>
                      </a:r>
                    </a:p>
                  </a:txBody>
                  <a:tcPr/>
                </a:tc>
                <a:tc>
                  <a:txBody>
                    <a:bodyPr/>
                    <a:lstStyle/>
                    <a:p>
                      <a:r>
                        <a:t>0.2565</a:t>
                      </a:r>
                    </a:p>
                  </a:txBody>
                  <a:tcPr/>
                </a:tc>
                <a:tc>
                  <a:txBody>
                    <a:bodyPr/>
                    <a:lstStyle/>
                    <a:p>
                      <a:r>
                        <a:t>e93c3bf4ebe103e0</a:t>
                      </a:r>
                    </a:p>
                  </a:txBody>
                  <a:tcPr/>
                </a:tc>
                <a:tc>
                  <a:txBody>
                    <a:bodyPr/>
                    <a:lstStyle/>
                    <a:p>
                      <a:r>
                        <a:t>tested</a:t>
                      </a:r>
                    </a:p>
                  </a:txBody>
                  <a:tcPr/>
                </a:tc>
              </a:tr>
              <a:tr h="718457">
                <a:tc>
                  <a:txBody>
                    <a:bodyPr/>
                    <a:lstStyle/>
                    <a:p>
                      <a:r>
                        <a:t>'Usage Frequency' has a threshold effect at [3.0, 6.0]: the </a:t>
                      </a:r>
                    </a:p>
                  </a:txBody>
                  <a:tcPr/>
                </a:tc>
                <a:tc>
                  <a:txBody>
                    <a:bodyPr/>
                    <a:lstStyle/>
                    <a:p>
                      <a:r>
                        <a:t>0.239</a:t>
                      </a:r>
                    </a:p>
                  </a:txBody>
                  <a:tcPr/>
                </a:tc>
                <a:tc>
                  <a:txBody>
                    <a:bodyPr/>
                    <a:lstStyle/>
                    <a:p>
                      <a:r>
                        <a:t>e943f2134b9c4331</a:t>
                      </a:r>
                    </a:p>
                  </a:txBody>
                  <a:tcPr/>
                </a:tc>
                <a:tc>
                  <a:txBody>
                    <a:bodyPr/>
                    <a:lstStyle/>
                    <a:p>
                      <a:r>
                        <a:t>tested</a:t>
                      </a:r>
                    </a:p>
                  </a:txBody>
                  <a:tcPr/>
                </a:tc>
              </a:tr>
              <a:tr h="718458">
                <a:tc>
                  <a:txBody>
                    <a:bodyPr/>
                    <a:lstStyle/>
                    <a:p>
                      <a:r>
                        <a:t>'Gender' splits the outcome: 'Male' runs 38.6% vs 47.4% over</a:t>
                      </a:r>
                    </a:p>
                  </a:txBody>
                  <a:tcPr/>
                </a:tc>
                <a:tc>
                  <a:txBody>
                    <a:bodyPr/>
                    <a:lstStyle/>
                    <a:p>
                      <a:r>
                        <a:t>-8.7888</a:t>
                      </a:r>
                    </a:p>
                  </a:txBody>
                  <a:tcPr/>
                </a:tc>
                <a:tc>
                  <a:txBody>
                    <a:bodyPr/>
                    <a:lstStyle/>
                    <a:p>
                      <a:r>
                        <a:t>226090e853703a26</a:t>
                      </a:r>
                    </a:p>
                  </a:txBody>
                  <a:tcPr/>
                </a:tc>
                <a:tc>
                  <a:txBody>
                    <a:bodyPr/>
                    <a:lstStyle/>
                    <a:p>
                      <a:r>
                        <a:t>tested</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